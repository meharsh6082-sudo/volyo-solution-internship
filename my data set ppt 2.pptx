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5" r:id="rId1"/>
  </p:sldMasterIdLst>
  <p:sldIdLst>
    <p:sldId id="256" r:id="rId2"/>
    <p:sldId id="260" r:id="rId3"/>
    <p:sldId id="257" r:id="rId4"/>
    <p:sldId id="258" r:id="rId5"/>
    <p:sldId id="259"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33A026-8498-4379-9AC5-3E56529ED920}">
          <p14:sldIdLst>
            <p14:sldId id="256"/>
            <p14:sldId id="260"/>
            <p14:sldId id="257"/>
            <p14:sldId id="258"/>
            <p14:sldId id="259"/>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305CD537-DD12-4507-806D-B32656AFDBE9}" type="datetimeFigureOut">
              <a:rPr lang="en-US" smtClean="0"/>
              <a:t>5/20/2026</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267265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CD537-DD12-4507-806D-B32656AFDBE9}"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1987999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305CD537-DD12-4507-806D-B32656AFDBE9}" type="datetimeFigureOut">
              <a:rPr lang="en-US" smtClean="0"/>
              <a:t>5/20/2026</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545568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1322521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5CD537-DD12-4507-806D-B32656AFDBE9}"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8922631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5CD537-DD12-4507-806D-B32656AFDBE9}"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69480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5CD537-DD12-4507-806D-B32656AFDBE9}"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288583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432120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4013019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463321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7117226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266008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305CD537-DD12-4507-806D-B32656AFDBE9}" type="datetimeFigureOut">
              <a:rPr lang="en-US" smtClean="0"/>
              <a:t>5/20/2026</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4040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5CD537-DD12-4507-806D-B32656AFDBE9}"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4023236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5CD537-DD12-4507-806D-B32656AFDBE9}"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2114424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5CD537-DD12-4507-806D-B32656AFDBE9}"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6356523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305CD537-DD12-4507-806D-B32656AFDBE9}" type="datetimeFigureOut">
              <a:rPr lang="en-US" smtClean="0"/>
              <a:t>5/20/2026</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A419080-B2E9-4B56-A57F-95657D09C2A2}" type="slidenum">
              <a:rPr lang="en-US" smtClean="0"/>
              <a:t>‹#›</a:t>
            </a:fld>
            <a:endParaRPr lang="en-US"/>
          </a:p>
        </p:txBody>
      </p:sp>
    </p:spTree>
    <p:extLst>
      <p:ext uri="{BB962C8B-B14F-4D97-AF65-F5344CB8AC3E}">
        <p14:creationId xmlns:p14="http://schemas.microsoft.com/office/powerpoint/2010/main" val="31400545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05CD537-DD12-4507-806D-B32656AFDBE9}" type="datetimeFigureOut">
              <a:rPr lang="en-US" smtClean="0"/>
              <a:t>5/20/2026</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A419080-B2E9-4B56-A57F-95657D09C2A2}" type="slidenum">
              <a:rPr lang="en-US" smtClean="0"/>
              <a:t>‹#›</a:t>
            </a:fld>
            <a:endParaRPr lang="en-US"/>
          </a:p>
        </p:txBody>
      </p:sp>
    </p:spTree>
    <p:extLst>
      <p:ext uri="{BB962C8B-B14F-4D97-AF65-F5344CB8AC3E}">
        <p14:creationId xmlns:p14="http://schemas.microsoft.com/office/powerpoint/2010/main" val="3943423307"/>
      </p:ext>
    </p:extLst>
  </p:cSld>
  <p:clrMap bg1="dk1" tx1="lt1" bg2="dk2" tx2="lt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www.picpedia.org/chalkboard/t/thank-you.html" TargetMode="External"/><Relationship Id="rId2" Type="http://schemas.openxmlformats.org/officeDocument/2006/relationships/image" Target="../media/image11.jpg"/><Relationship Id="rId1" Type="http://schemas.openxmlformats.org/officeDocument/2006/relationships/slideLayout" Target="../slideLayouts/slideLayout7.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FDCD1ED-B0B6-5FC0-8BA3-F8C79D18140A}"/>
              </a:ext>
            </a:extLst>
          </p:cNvPr>
          <p:cNvSpPr>
            <a:spLocks noGrp="1"/>
          </p:cNvSpPr>
          <p:nvPr>
            <p:ph type="subTitle" idx="1"/>
          </p:nvPr>
        </p:nvSpPr>
        <p:spPr>
          <a:xfrm>
            <a:off x="1290916" y="3086100"/>
            <a:ext cx="5235389" cy="685800"/>
          </a:xfrm>
        </p:spPr>
        <p:txBody>
          <a:bodyPr>
            <a:normAutofit fontScale="32500" lnSpcReduction="20000"/>
          </a:bodyPr>
          <a:lstStyle/>
          <a:p>
            <a:r>
              <a:rPr lang="en-US" sz="4900" dirty="0"/>
              <a:t>S</a:t>
            </a:r>
            <a:r>
              <a:rPr lang="en-US" sz="4300" dirty="0"/>
              <a:t>chool Infrastructure Analysis Dashboard (2018–19)</a:t>
            </a:r>
          </a:p>
          <a:p>
            <a:r>
              <a:rPr lang="en-US" dirty="0"/>
              <a:t>Analysis of Educational Infrastructure Across Indian States</a:t>
            </a:r>
          </a:p>
          <a:p>
            <a:r>
              <a:rPr lang="en-US" dirty="0"/>
              <a:t>Name – Harsh Mehta </a:t>
            </a:r>
          </a:p>
          <a:p>
            <a:endParaRPr lang="en-US" dirty="0"/>
          </a:p>
        </p:txBody>
      </p:sp>
      <p:pic>
        <p:nvPicPr>
          <p:cNvPr id="11" name="Picture 10">
            <a:extLst>
              <a:ext uri="{FF2B5EF4-FFF2-40B4-BE49-F238E27FC236}">
                <a16:creationId xmlns:a16="http://schemas.microsoft.com/office/drawing/2014/main" id="{76971985-21E9-6BEA-677C-172A0963E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2305" y="2537011"/>
            <a:ext cx="2250141" cy="2339788"/>
          </a:xfrm>
          <a:prstGeom prst="rect">
            <a:avLst/>
          </a:prstGeom>
          <a:noFill/>
          <a:ln>
            <a:solidFill>
              <a:schemeClr val="bg1"/>
            </a:solidFill>
          </a:ln>
          <a:effectLst/>
        </p:spPr>
      </p:pic>
    </p:spTree>
    <p:extLst>
      <p:ext uri="{BB962C8B-B14F-4D97-AF65-F5344CB8AC3E}">
        <p14:creationId xmlns:p14="http://schemas.microsoft.com/office/powerpoint/2010/main" val="313402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DAEC6-EA1B-2F85-F251-B282F3EC0B4A}"/>
              </a:ext>
            </a:extLst>
          </p:cNvPr>
          <p:cNvSpPr>
            <a:spLocks noGrp="1"/>
          </p:cNvSpPr>
          <p:nvPr>
            <p:ph type="title"/>
          </p:nvPr>
        </p:nvSpPr>
        <p:spPr>
          <a:xfrm>
            <a:off x="4069976" y="457199"/>
            <a:ext cx="4455460" cy="1017495"/>
          </a:xfrm>
        </p:spPr>
        <p:txBody>
          <a:bodyPr/>
          <a:lstStyle/>
          <a:p>
            <a:r>
              <a:rPr lang="en-US" dirty="0"/>
              <a:t>PROJECT OVERVIEW</a:t>
            </a:r>
          </a:p>
        </p:txBody>
      </p:sp>
      <p:sp>
        <p:nvSpPr>
          <p:cNvPr id="4" name="Text Placeholder 3">
            <a:extLst>
              <a:ext uri="{FF2B5EF4-FFF2-40B4-BE49-F238E27FC236}">
                <a16:creationId xmlns:a16="http://schemas.microsoft.com/office/drawing/2014/main" id="{C7C53379-6392-5934-3184-ADB6C3D7C8F9}"/>
              </a:ext>
            </a:extLst>
          </p:cNvPr>
          <p:cNvSpPr>
            <a:spLocks noGrp="1"/>
          </p:cNvSpPr>
          <p:nvPr>
            <p:ph type="body" sz="half" idx="2"/>
          </p:nvPr>
        </p:nvSpPr>
        <p:spPr>
          <a:xfrm>
            <a:off x="2747683" y="1936376"/>
            <a:ext cx="6873240" cy="4291274"/>
          </a:xfrm>
        </p:spPr>
        <p:txBody>
          <a:bodyPr>
            <a:normAutofit fontScale="92500" lnSpcReduction="10000"/>
          </a:bodyPr>
          <a:lstStyle/>
          <a:p>
            <a:r>
              <a:rPr lang="en-US" dirty="0"/>
              <a:t>This dashboard presentation analyzes different aspects of educational infrastructure and literacy performance across Indian states using multiple datasets. The presentation includes analysis of electricity availability in schools, enrollment ratios of children with disabilities, literacy rate comparisons, sanitation and hygiene facilities, accessibility infrastructure, and digital education resources. Various chart types and visualizations have been used to highlight key insights, comparisons, and infrastructure trends across different regions of India.</a:t>
            </a:r>
          </a:p>
          <a:p>
            <a:r>
              <a:rPr lang="en-US" b="1" dirty="0"/>
              <a:t>Presentation Flow  </a:t>
            </a:r>
          </a:p>
          <a:p>
            <a:pPr marL="285750" indent="-285750">
              <a:buFont typeface="Wingdings" panose="05000000000000000000" pitchFamily="2" charset="2"/>
              <a:buChar char="q"/>
            </a:pPr>
            <a:r>
              <a:rPr lang="en-US" dirty="0"/>
              <a:t>Electricity Analysis </a:t>
            </a:r>
          </a:p>
          <a:p>
            <a:pPr marL="285750" indent="-285750">
              <a:buFont typeface="Wingdings" panose="05000000000000000000" pitchFamily="2" charset="2"/>
              <a:buChar char="q"/>
            </a:pPr>
            <a:r>
              <a:rPr lang="en-US" dirty="0"/>
              <a:t>Literacy Rate Comparison </a:t>
            </a:r>
          </a:p>
          <a:p>
            <a:pPr marL="285750" indent="-285750">
              <a:buFont typeface="Wingdings" panose="05000000000000000000" pitchFamily="2" charset="2"/>
              <a:buChar char="q"/>
            </a:pPr>
            <a:r>
              <a:rPr lang="en-US" dirty="0"/>
              <a:t>Enrollment Ratio Analysis </a:t>
            </a:r>
          </a:p>
          <a:p>
            <a:pPr marL="285750" indent="-285750">
              <a:buFont typeface="Wingdings" panose="05000000000000000000" pitchFamily="2" charset="2"/>
              <a:buChar char="q"/>
            </a:pPr>
            <a:r>
              <a:rPr lang="en-US" dirty="0"/>
              <a:t>Accessibility Infrastructure Analysis </a:t>
            </a:r>
          </a:p>
          <a:p>
            <a:pPr marL="285750" indent="-285750">
              <a:buFont typeface="Wingdings" panose="05000000000000000000" pitchFamily="2" charset="2"/>
              <a:buChar char="q"/>
            </a:pPr>
            <a:r>
              <a:rPr lang="en-US" dirty="0"/>
              <a:t>Hygiene &amp; Sanitation Analysis </a:t>
            </a:r>
          </a:p>
          <a:p>
            <a:pPr marL="285750" indent="-285750">
              <a:buFont typeface="Wingdings" panose="05000000000000000000" pitchFamily="2" charset="2"/>
              <a:buChar char="q"/>
            </a:pPr>
            <a:r>
              <a:rPr lang="en-US" dirty="0"/>
              <a:t>Final Dashboard </a:t>
            </a:r>
          </a:p>
          <a:p>
            <a:pPr marL="285750" indent="-285750">
              <a:buFont typeface="Wingdings" panose="05000000000000000000" pitchFamily="2" charset="2"/>
              <a:buChar char="q"/>
            </a:pPr>
            <a:r>
              <a:rPr lang="en-US" dirty="0"/>
              <a:t>Conclusion </a:t>
            </a:r>
          </a:p>
          <a:p>
            <a:endParaRPr lang="en-US" dirty="0"/>
          </a:p>
        </p:txBody>
      </p:sp>
    </p:spTree>
    <p:extLst>
      <p:ext uri="{BB962C8B-B14F-4D97-AF65-F5344CB8AC3E}">
        <p14:creationId xmlns:p14="http://schemas.microsoft.com/office/powerpoint/2010/main" val="31833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ADA24AE-86D7-5A32-865C-AB081B140422}"/>
              </a:ext>
            </a:extLst>
          </p:cNvPr>
          <p:cNvSpPr>
            <a:spLocks noGrp="1"/>
          </p:cNvSpPr>
          <p:nvPr>
            <p:ph type="body" sz="half" idx="2"/>
          </p:nvPr>
        </p:nvSpPr>
        <p:spPr>
          <a:xfrm>
            <a:off x="551329" y="4076536"/>
            <a:ext cx="5544671" cy="2209801"/>
          </a:xfrm>
        </p:spPr>
        <p:txBody>
          <a:bodyPr>
            <a:normAutofit/>
          </a:bodyPr>
          <a:lstStyle/>
          <a:p>
            <a:r>
              <a:rPr lang="en-US" sz="2000" dirty="0"/>
              <a:t>Top 10 States by Electricity Availability</a:t>
            </a:r>
          </a:p>
          <a:p>
            <a:r>
              <a:rPr lang="en-US" dirty="0"/>
              <a:t>This chart represents the top 10 Indian states with the highest electricity availability in schools during 2018–19 Gujarat achieved the highest electricity access, highlighting strong educational infrastructure development across several states.</a:t>
            </a:r>
          </a:p>
        </p:txBody>
      </p:sp>
      <p:pic>
        <p:nvPicPr>
          <p:cNvPr id="16" name="Picture 15">
            <a:extLst>
              <a:ext uri="{FF2B5EF4-FFF2-40B4-BE49-F238E27FC236}">
                <a16:creationId xmlns:a16="http://schemas.microsoft.com/office/drawing/2014/main" id="{124CA412-2748-CC92-F8E9-782EFCDC7D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65" y="1189900"/>
            <a:ext cx="4890248" cy="2362530"/>
          </a:xfrm>
          <a:prstGeom prst="rect">
            <a:avLst/>
          </a:prstGeom>
        </p:spPr>
      </p:pic>
      <p:sp>
        <p:nvSpPr>
          <p:cNvPr id="19" name="TextBox 18">
            <a:extLst>
              <a:ext uri="{FF2B5EF4-FFF2-40B4-BE49-F238E27FC236}">
                <a16:creationId xmlns:a16="http://schemas.microsoft.com/office/drawing/2014/main" id="{247AA358-5340-3E9B-631F-9715FB238A1F}"/>
              </a:ext>
            </a:extLst>
          </p:cNvPr>
          <p:cNvSpPr txBox="1"/>
          <p:nvPr/>
        </p:nvSpPr>
        <p:spPr>
          <a:xfrm>
            <a:off x="4043082" y="373545"/>
            <a:ext cx="3576917" cy="461665"/>
          </a:xfrm>
          <a:prstGeom prst="rect">
            <a:avLst/>
          </a:prstGeom>
          <a:noFill/>
        </p:spPr>
        <p:txBody>
          <a:bodyPr wrap="square" rtlCol="0">
            <a:spAutoFit/>
          </a:bodyPr>
          <a:lstStyle/>
          <a:p>
            <a:r>
              <a:rPr lang="en-US" sz="2400" dirty="0"/>
              <a:t>ELECTRICITY ANALYSIS</a:t>
            </a:r>
          </a:p>
        </p:txBody>
      </p:sp>
      <p:sp>
        <p:nvSpPr>
          <p:cNvPr id="21" name="TextBox 20">
            <a:extLst>
              <a:ext uri="{FF2B5EF4-FFF2-40B4-BE49-F238E27FC236}">
                <a16:creationId xmlns:a16="http://schemas.microsoft.com/office/drawing/2014/main" id="{89411700-56A0-2A5B-54B0-D049B5B0CD26}"/>
              </a:ext>
            </a:extLst>
          </p:cNvPr>
          <p:cNvSpPr txBox="1"/>
          <p:nvPr/>
        </p:nvSpPr>
        <p:spPr>
          <a:xfrm>
            <a:off x="6176682" y="4065166"/>
            <a:ext cx="4760258" cy="1846659"/>
          </a:xfrm>
          <a:prstGeom prst="rect">
            <a:avLst/>
          </a:prstGeom>
          <a:noFill/>
        </p:spPr>
        <p:txBody>
          <a:bodyPr wrap="square">
            <a:spAutoFit/>
          </a:bodyPr>
          <a:lstStyle/>
          <a:p>
            <a:r>
              <a:rPr lang="en-US" dirty="0"/>
              <a:t>Bottom 10 States by Electricity Availability </a:t>
            </a:r>
          </a:p>
          <a:p>
            <a:r>
              <a:rPr lang="en-US" sz="1600" dirty="0"/>
              <a:t>This chart represents the bottom 10 Indian states with the lowest electricity availability in schools during 2018–19. Meghalaya recorded the lowest electricity access, highlighting infrastructure challenges in several regions of India.</a:t>
            </a:r>
          </a:p>
        </p:txBody>
      </p:sp>
      <p:pic>
        <p:nvPicPr>
          <p:cNvPr id="25" name="Picture 24">
            <a:extLst>
              <a:ext uri="{FF2B5EF4-FFF2-40B4-BE49-F238E27FC236}">
                <a16:creationId xmlns:a16="http://schemas.microsoft.com/office/drawing/2014/main" id="{86D682F4-B082-9C78-9BAC-7823C424FE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1530" y="1161321"/>
            <a:ext cx="4890248" cy="2391109"/>
          </a:xfrm>
          <a:prstGeom prst="rect">
            <a:avLst/>
          </a:prstGeom>
        </p:spPr>
      </p:pic>
    </p:spTree>
    <p:extLst>
      <p:ext uri="{BB962C8B-B14F-4D97-AF65-F5344CB8AC3E}">
        <p14:creationId xmlns:p14="http://schemas.microsoft.com/office/powerpoint/2010/main" val="421602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468281C-9BEC-70C3-0378-F21413F44612}"/>
              </a:ext>
            </a:extLst>
          </p:cNvPr>
          <p:cNvSpPr>
            <a:spLocks noGrp="1"/>
          </p:cNvSpPr>
          <p:nvPr>
            <p:ph type="body" sz="half" idx="2"/>
          </p:nvPr>
        </p:nvSpPr>
        <p:spPr>
          <a:xfrm>
            <a:off x="372035" y="2707342"/>
            <a:ext cx="4899212" cy="3245223"/>
          </a:xfrm>
        </p:spPr>
        <p:txBody>
          <a:bodyPr>
            <a:normAutofit/>
          </a:bodyPr>
          <a:lstStyle/>
          <a:p>
            <a:r>
              <a:rPr lang="en-US" dirty="0"/>
              <a:t>This pie chart represents the distribution of enrollment ratios of children with disabilities across different education levels during 2018–19. The analysis shows that Upper Primary and Elementary levels recorded higher enrollment ratios, while Higher Secondary had the lowest enrollment ratio, highlighting a decline in participation at advanced education levels.</a:t>
            </a:r>
          </a:p>
        </p:txBody>
      </p:sp>
      <p:pic>
        <p:nvPicPr>
          <p:cNvPr id="12" name="Picture 11">
            <a:extLst>
              <a:ext uri="{FF2B5EF4-FFF2-40B4-BE49-F238E27FC236}">
                <a16:creationId xmlns:a16="http://schemas.microsoft.com/office/drawing/2014/main" id="{15D453D0-A8D4-E748-C604-5B881C5FDC2B}"/>
              </a:ext>
            </a:extLst>
          </p:cNvPr>
          <p:cNvPicPr>
            <a:picLocks noChangeAspect="1"/>
          </p:cNvPicPr>
          <p:nvPr/>
        </p:nvPicPr>
        <p:blipFill>
          <a:blip r:embed="rId2"/>
          <a:stretch>
            <a:fillRect/>
          </a:stretch>
        </p:blipFill>
        <p:spPr>
          <a:xfrm>
            <a:off x="6688511" y="2327182"/>
            <a:ext cx="5000625" cy="2562225"/>
          </a:xfrm>
          <a:prstGeom prst="rect">
            <a:avLst/>
          </a:prstGeom>
        </p:spPr>
      </p:pic>
      <p:sp>
        <p:nvSpPr>
          <p:cNvPr id="13" name="TextBox 12">
            <a:extLst>
              <a:ext uri="{FF2B5EF4-FFF2-40B4-BE49-F238E27FC236}">
                <a16:creationId xmlns:a16="http://schemas.microsoft.com/office/drawing/2014/main" id="{41C75A31-7926-5BBF-CB4D-E4A1F4337DC4}"/>
              </a:ext>
            </a:extLst>
          </p:cNvPr>
          <p:cNvSpPr txBox="1"/>
          <p:nvPr/>
        </p:nvSpPr>
        <p:spPr>
          <a:xfrm>
            <a:off x="4226859" y="625750"/>
            <a:ext cx="3738282" cy="369332"/>
          </a:xfrm>
          <a:prstGeom prst="rect">
            <a:avLst/>
          </a:prstGeom>
          <a:noFill/>
        </p:spPr>
        <p:txBody>
          <a:bodyPr wrap="square" rtlCol="0">
            <a:spAutoFit/>
          </a:bodyPr>
          <a:lstStyle/>
          <a:p>
            <a:r>
              <a:rPr lang="en-US"/>
              <a:t>ENROLLMENT RATIO ANALYSIS</a:t>
            </a:r>
            <a:endParaRPr lang="en-US" dirty="0"/>
          </a:p>
        </p:txBody>
      </p:sp>
    </p:spTree>
    <p:extLst>
      <p:ext uri="{BB962C8B-B14F-4D97-AF65-F5344CB8AC3E}">
        <p14:creationId xmlns:p14="http://schemas.microsoft.com/office/powerpoint/2010/main" val="42418499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AAABF61-C1FA-AD60-39E8-346B1FB84DA7}"/>
              </a:ext>
            </a:extLst>
          </p:cNvPr>
          <p:cNvSpPr>
            <a:spLocks noGrp="1"/>
          </p:cNvSpPr>
          <p:nvPr>
            <p:ph type="title"/>
          </p:nvPr>
        </p:nvSpPr>
        <p:spPr>
          <a:xfrm>
            <a:off x="2960592" y="1156447"/>
            <a:ext cx="5419165" cy="470647"/>
          </a:xfrm>
        </p:spPr>
        <p:txBody>
          <a:bodyPr>
            <a:normAutofit fontScale="90000"/>
          </a:bodyPr>
          <a:lstStyle/>
          <a:p>
            <a:r>
              <a:rPr lang="en-US" dirty="0"/>
              <a:t>LITERACY RATE COMPARISON</a:t>
            </a:r>
          </a:p>
        </p:txBody>
      </p:sp>
      <p:sp>
        <p:nvSpPr>
          <p:cNvPr id="4" name="Text Placeholder 3">
            <a:extLst>
              <a:ext uri="{FF2B5EF4-FFF2-40B4-BE49-F238E27FC236}">
                <a16:creationId xmlns:a16="http://schemas.microsoft.com/office/drawing/2014/main" id="{74C323BB-5F96-A7ED-1F76-EA18423667D2}"/>
              </a:ext>
            </a:extLst>
          </p:cNvPr>
          <p:cNvSpPr>
            <a:spLocks noGrp="1"/>
          </p:cNvSpPr>
          <p:nvPr>
            <p:ph type="body" sz="half" idx="2"/>
          </p:nvPr>
        </p:nvSpPr>
        <p:spPr>
          <a:xfrm>
            <a:off x="690281" y="2437566"/>
            <a:ext cx="4979894" cy="2551579"/>
          </a:xfrm>
        </p:spPr>
        <p:txBody>
          <a:bodyPr>
            <a:normAutofit/>
          </a:bodyPr>
          <a:lstStyle/>
          <a:p>
            <a:r>
              <a:rPr lang="en-US" dirty="0"/>
              <a:t>This chart represents the comparison between male and female literacy rates across selected Indian states during 2019.The analysis shows that male literacy rates are slightly higher than female literacy rates in most states. Kerala recorded the highest literacy performance, while other states also demonstrated strong educational development and literacy awareness.</a:t>
            </a:r>
          </a:p>
          <a:p>
            <a:endParaRPr lang="en-US" dirty="0"/>
          </a:p>
        </p:txBody>
      </p:sp>
      <p:pic>
        <p:nvPicPr>
          <p:cNvPr id="6" name="Picture 5">
            <a:extLst>
              <a:ext uri="{FF2B5EF4-FFF2-40B4-BE49-F238E27FC236}">
                <a16:creationId xmlns:a16="http://schemas.microsoft.com/office/drawing/2014/main" id="{E4504417-EB8B-7953-8B86-F4D66E5D8C9B}"/>
              </a:ext>
            </a:extLst>
          </p:cNvPr>
          <p:cNvPicPr>
            <a:picLocks noChangeAspect="1"/>
          </p:cNvPicPr>
          <p:nvPr/>
        </p:nvPicPr>
        <p:blipFill>
          <a:blip r:embed="rId2"/>
          <a:stretch>
            <a:fillRect/>
          </a:stretch>
        </p:blipFill>
        <p:spPr>
          <a:xfrm>
            <a:off x="6553203" y="2437567"/>
            <a:ext cx="4872318" cy="2551579"/>
          </a:xfrm>
          <a:prstGeom prst="rect">
            <a:avLst/>
          </a:prstGeom>
        </p:spPr>
      </p:pic>
    </p:spTree>
    <p:extLst>
      <p:ext uri="{BB962C8B-B14F-4D97-AF65-F5344CB8AC3E}">
        <p14:creationId xmlns:p14="http://schemas.microsoft.com/office/powerpoint/2010/main" val="1298790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0599598-373F-F08A-50B3-9628E5DEFC8E}"/>
              </a:ext>
            </a:extLst>
          </p:cNvPr>
          <p:cNvSpPr>
            <a:spLocks noGrp="1"/>
          </p:cNvSpPr>
          <p:nvPr>
            <p:ph type="body" sz="half" idx="2"/>
          </p:nvPr>
        </p:nvSpPr>
        <p:spPr>
          <a:xfrm>
            <a:off x="623047" y="2141734"/>
            <a:ext cx="5553635" cy="3094485"/>
          </a:xfrm>
        </p:spPr>
        <p:txBody>
          <a:bodyPr/>
          <a:lstStyle/>
          <a:p>
            <a:r>
              <a:rPr lang="en-US" dirty="0"/>
              <a:t>This chart represents the comparison between disabled-friendly toilet facilities and ramp availability in schools across selected Indian states during 2018–19. The analysis shows that ramp availability is significantly higher than disabled-friendly toilet facilities in many states, highlighting gaps in accessibility infrastructure and inclusive educational support across different regions of India.</a:t>
            </a:r>
          </a:p>
          <a:p>
            <a:endParaRPr lang="en-US" dirty="0"/>
          </a:p>
        </p:txBody>
      </p:sp>
      <p:sp>
        <p:nvSpPr>
          <p:cNvPr id="8" name="TextBox 7">
            <a:extLst>
              <a:ext uri="{FF2B5EF4-FFF2-40B4-BE49-F238E27FC236}">
                <a16:creationId xmlns:a16="http://schemas.microsoft.com/office/drawing/2014/main" id="{7AB3CCED-40DF-E465-E309-17DD5533C330}"/>
              </a:ext>
            </a:extLst>
          </p:cNvPr>
          <p:cNvSpPr txBox="1"/>
          <p:nvPr/>
        </p:nvSpPr>
        <p:spPr>
          <a:xfrm>
            <a:off x="3944471" y="779040"/>
            <a:ext cx="3962400" cy="369332"/>
          </a:xfrm>
          <a:prstGeom prst="rect">
            <a:avLst/>
          </a:prstGeom>
          <a:noFill/>
        </p:spPr>
        <p:txBody>
          <a:bodyPr wrap="square">
            <a:spAutoFit/>
          </a:bodyPr>
          <a:lstStyle/>
          <a:p>
            <a:r>
              <a:rPr lang="en-US" dirty="0"/>
              <a:t>Accessibility Infrastructure Analysis </a:t>
            </a:r>
          </a:p>
        </p:txBody>
      </p:sp>
      <p:pic>
        <p:nvPicPr>
          <p:cNvPr id="10" name="Picture 9">
            <a:extLst>
              <a:ext uri="{FF2B5EF4-FFF2-40B4-BE49-F238E27FC236}">
                <a16:creationId xmlns:a16="http://schemas.microsoft.com/office/drawing/2014/main" id="{8AE52AC4-415E-BF32-0F9A-C88650D98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7623" y="2141734"/>
            <a:ext cx="4123765" cy="2205318"/>
          </a:xfrm>
          <a:prstGeom prst="rect">
            <a:avLst/>
          </a:prstGeom>
        </p:spPr>
      </p:pic>
    </p:spTree>
    <p:extLst>
      <p:ext uri="{BB962C8B-B14F-4D97-AF65-F5344CB8AC3E}">
        <p14:creationId xmlns:p14="http://schemas.microsoft.com/office/powerpoint/2010/main" val="168974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2DB4B-B81A-D98D-717A-C48CF222114C}"/>
              </a:ext>
            </a:extLst>
          </p:cNvPr>
          <p:cNvSpPr>
            <a:spLocks noGrp="1"/>
          </p:cNvSpPr>
          <p:nvPr>
            <p:ph type="title"/>
          </p:nvPr>
        </p:nvSpPr>
        <p:spPr>
          <a:xfrm>
            <a:off x="1010772" y="1842247"/>
            <a:ext cx="4269441" cy="2588558"/>
          </a:xfrm>
        </p:spPr>
        <p:txBody>
          <a:bodyPr>
            <a:normAutofit/>
          </a:bodyPr>
          <a:lstStyle/>
          <a:p>
            <a:pPr algn="l"/>
            <a:r>
              <a:rPr lang="en-US" sz="1400" dirty="0"/>
              <a:t>This chart represents the top 10 Indian states with the highest availability of basic handwashing facilities in schools during 2018–19. The analysis shows that Jammu and Kashmir recorded the highest percentage of handwashing facilities, followed closely by Rajasthan and Chandigarh. The chart highlights strong progress in school hygiene infrastructure and sanitation facilities across several Indian states.</a:t>
            </a:r>
            <a:br>
              <a:rPr lang="en-US" sz="1400" dirty="0"/>
            </a:br>
            <a:endParaRPr lang="en-US" sz="1400" dirty="0"/>
          </a:p>
        </p:txBody>
      </p:sp>
      <p:pic>
        <p:nvPicPr>
          <p:cNvPr id="8" name="Content Placeholder 7">
            <a:extLst>
              <a:ext uri="{FF2B5EF4-FFF2-40B4-BE49-F238E27FC236}">
                <a16:creationId xmlns:a16="http://schemas.microsoft.com/office/drawing/2014/main" id="{31D84A28-02E9-9FDE-7DCA-84A5A8AE37A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651821" y="1987923"/>
            <a:ext cx="4948509" cy="2442882"/>
          </a:xfrm>
          <a:prstGeom prst="rect">
            <a:avLst/>
          </a:prstGeom>
        </p:spPr>
      </p:pic>
      <p:sp>
        <p:nvSpPr>
          <p:cNvPr id="10" name="TextBox 9">
            <a:extLst>
              <a:ext uri="{FF2B5EF4-FFF2-40B4-BE49-F238E27FC236}">
                <a16:creationId xmlns:a16="http://schemas.microsoft.com/office/drawing/2014/main" id="{586AB95E-DDCC-B034-24A3-63E98DE91C75}"/>
              </a:ext>
            </a:extLst>
          </p:cNvPr>
          <p:cNvSpPr txBox="1"/>
          <p:nvPr/>
        </p:nvSpPr>
        <p:spPr>
          <a:xfrm>
            <a:off x="3980330" y="805934"/>
            <a:ext cx="4159623" cy="369332"/>
          </a:xfrm>
          <a:prstGeom prst="rect">
            <a:avLst/>
          </a:prstGeom>
          <a:noFill/>
        </p:spPr>
        <p:txBody>
          <a:bodyPr wrap="square">
            <a:spAutoFit/>
          </a:bodyPr>
          <a:lstStyle/>
          <a:p>
            <a:r>
              <a:rPr lang="en-US" dirty="0"/>
              <a:t>HANDWASHING FACILITIES ANALYSIS</a:t>
            </a:r>
          </a:p>
        </p:txBody>
      </p:sp>
    </p:spTree>
    <p:extLst>
      <p:ext uri="{BB962C8B-B14F-4D97-AF65-F5344CB8AC3E}">
        <p14:creationId xmlns:p14="http://schemas.microsoft.com/office/powerpoint/2010/main" val="196753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7A9370-6919-AEE8-B649-04DACF1DB7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9253"/>
            <a:ext cx="12192000" cy="4099494"/>
          </a:xfrm>
          <a:prstGeom prst="rect">
            <a:avLst/>
          </a:prstGeom>
        </p:spPr>
      </p:pic>
    </p:spTree>
    <p:extLst>
      <p:ext uri="{BB962C8B-B14F-4D97-AF65-F5344CB8AC3E}">
        <p14:creationId xmlns:p14="http://schemas.microsoft.com/office/powerpoint/2010/main" val="1896322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A6C2E0A-F352-F104-5BE5-F55FDC973EC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7DD67D85-9C2D-6D0B-BCE7-9CB1CF388F14}"/>
              </a:ext>
            </a:extLst>
          </p:cNvPr>
          <p:cNvSpPr txBox="1"/>
          <p:nvPr/>
        </p:nvSpPr>
        <p:spPr>
          <a:xfrm>
            <a:off x="0" y="6858000"/>
            <a:ext cx="12192000" cy="230832"/>
          </a:xfrm>
          <a:prstGeom prst="rect">
            <a:avLst/>
          </a:prstGeom>
          <a:noFill/>
        </p:spPr>
        <p:txBody>
          <a:bodyPr wrap="square" rtlCol="0">
            <a:spAutoFit/>
          </a:bodyPr>
          <a:lstStyle/>
          <a:p>
            <a:r>
              <a:rPr lang="en-US" sz="900">
                <a:hlinkClick r:id="rId3" tooltip="https://www.picpedia.org/chalkboard/t/thank-you.html"/>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2835074315"/>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Vapor Trail</Template>
  <TotalTime>598</TotalTime>
  <Words>442</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vt:lpstr>
      <vt:lpstr>Vapor Trail</vt:lpstr>
      <vt:lpstr>PowerPoint Presentation</vt:lpstr>
      <vt:lpstr>PROJECT OVERVIEW</vt:lpstr>
      <vt:lpstr>PowerPoint Presentation</vt:lpstr>
      <vt:lpstr>PowerPoint Presentation</vt:lpstr>
      <vt:lpstr>LITERACY RATE COMPARISON</vt:lpstr>
      <vt:lpstr>PowerPoint Presentation</vt:lpstr>
      <vt:lpstr>This chart represents the top 10 Indian states with the highest availability of basic handwashing facilities in schools during 2018–19. The analysis shows that Jammu and Kashmir recorded the highest percentage of handwashing facilities, followed closely by Rajasthan and Chandigarh. The chart highlights strong progress in school hygiene infrastructure and sanitation facilities across several Indian states.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 mehta</dc:creator>
  <cp:lastModifiedBy>harsh mehta</cp:lastModifiedBy>
  <cp:revision>2</cp:revision>
  <dcterms:created xsi:type="dcterms:W3CDTF">2026-05-18T15:01:07Z</dcterms:created>
  <dcterms:modified xsi:type="dcterms:W3CDTF">2026-05-20T08:48:41Z</dcterms:modified>
</cp:coreProperties>
</file>